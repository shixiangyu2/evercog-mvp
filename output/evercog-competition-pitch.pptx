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 w="12700">
            <a:solidFill>
              <a:srgbClr val="0814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8686800" y="-1645920"/>
            <a:ext cx="4754880" cy="4754880"/>
          </a:xfrm>
          <a:prstGeom prst="arc">
            <a:avLst/>
          </a:prstGeom>
          <a:noFill/>
          <a:ln w="25400">
            <a:solidFill>
              <a:srgbClr val="34D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-1097280" y="5029200"/>
            <a:ext cx="3840480" cy="3840480"/>
          </a:xfrm>
          <a:prstGeom prst="arc">
            <a:avLst/>
          </a:prstGeom>
          <a:noFill/>
          <a:ln w="25400">
            <a:solidFill>
              <a:srgbClr val="2EE59D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7FF"/>
                </a:solidFill>
              </a:rPr>
              <a:t>恒识 Evercog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2984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FF"/>
                </a:solidFill>
              </a:rPr>
              <a:t>中小微企服公司的 AI 知识操作系统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8470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3DA"/>
                </a:solidFill>
              </a:rPr>
              <a:t>外部政策自动跟踪 · 内部经验即时问答 · 新人能力持续训练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816352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816352"/>
            <a:ext cx="54864" cy="1325880"/>
          </a:xfrm>
          <a:prstGeom prst="rect">
            <a:avLst/>
          </a:prstGeom>
          <a:solidFill>
            <a:srgbClr val="2EE59D"/>
          </a:solidFill>
          <a:ln w="12700">
            <a:solidFill>
              <a:srgbClr val="2EE5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809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一句话定位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19856"/>
            <a:ext cx="31089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面向财税、法务、人服等企业服务机构，把分散政策、客户案例和员工经验沉淀为可追溯、可复用、可训练的企业智能。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2816352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816352"/>
            <a:ext cx="54864" cy="1325880"/>
          </a:xfrm>
          <a:prstGeom prst="rect">
            <a:avLst/>
          </a:prstGeom>
          <a:solidFill>
            <a:srgbClr val="34D3FF"/>
          </a:solidFill>
          <a:ln w="12700">
            <a:solidFill>
              <a:srgbClr val="34D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29809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核心价值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07992" y="3419856"/>
            <a:ext cx="31089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更快响应客户咨询，降低政策漏判风险，把资深顾问经验转成组织能力。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28432" y="2816352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8432" y="2816352"/>
            <a:ext cx="54864" cy="1325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29809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比赛表达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93024" y="3419856"/>
            <a:ext cx="31089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不是单点问答机器人，而是企业知识从获取、理解、执行到训练的闭环。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BAA"/>
                </a:solidFill>
              </a:rPr>
              <a:t>Evercog Competition Pitch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201400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FF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 w="12700">
            <a:solidFill>
              <a:srgbClr val="0814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8686800" y="-1645920"/>
            <a:ext cx="4754880" cy="4754880"/>
          </a:xfrm>
          <a:prstGeom prst="arc">
            <a:avLst/>
          </a:prstGeom>
          <a:noFill/>
          <a:ln w="25400">
            <a:solidFill>
              <a:srgbClr val="34D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-1097280" y="5029200"/>
            <a:ext cx="3840480" cy="3840480"/>
          </a:xfrm>
          <a:prstGeom prst="arc">
            <a:avLst/>
          </a:prstGeom>
          <a:noFill/>
          <a:ln w="25400">
            <a:solidFill>
              <a:srgbClr val="2EE59D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痛点：企服知识正在“碎片化失控”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3DA"/>
                </a:solidFill>
              </a:rPr>
              <a:t>政策变得更快，客户问得更细，新人上手更慢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173B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1732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54864" cy="3611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政策信息分散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020824"/>
            <a:ext cx="3108960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政策散落在各网站、公众号、通知文件中；人工筛选慢，容易漏掉关键变化。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417320"/>
            <a:ext cx="54864" cy="3611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经验依赖个人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3712" y="2020824"/>
            <a:ext cx="3108960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客户案例、口径和判断依据沉淀在资深员工脑中；新人反复问，老人反复答。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417320"/>
            <a:ext cx="54864" cy="3611880"/>
          </a:xfrm>
          <a:prstGeom prst="rect">
            <a:avLst/>
          </a:prstGeom>
          <a:solidFill>
            <a:srgbClr val="34D3FF"/>
          </a:solidFill>
          <a:ln w="12700">
            <a:solidFill>
              <a:srgbClr val="34D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581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培训难以闭环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2020824"/>
            <a:ext cx="3108960" cy="2862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SOP 文档常常过期，训练无法量化；团队能力复制依靠师徒制和运气。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BAA"/>
                </a:solidFill>
              </a:rPr>
              <a:t>Evercog Competition Pitch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201400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FF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 w="12700">
            <a:solidFill>
              <a:srgbClr val="0814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8686800" y="-1645920"/>
            <a:ext cx="4754880" cy="4754880"/>
          </a:xfrm>
          <a:prstGeom prst="arc">
            <a:avLst/>
          </a:prstGeom>
          <a:noFill/>
          <a:ln w="25400">
            <a:solidFill>
              <a:srgbClr val="34D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-1097280" y="5029200"/>
            <a:ext cx="3840480" cy="3840480"/>
          </a:xfrm>
          <a:prstGeom prst="arc">
            <a:avLst/>
          </a:prstGeom>
          <a:noFill/>
          <a:ln w="25400">
            <a:solidFill>
              <a:srgbClr val="2EE59D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方案：AI 政策情报与业务经验中台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3DA"/>
                </a:solidFill>
              </a:rPr>
              <a:t>把外部政策与内部知识变成可追溯、可执行、可训练的闭环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173B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98448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98448"/>
            <a:ext cx="54864" cy="1280160"/>
          </a:xfrm>
          <a:prstGeom prst="rect">
            <a:avLst/>
          </a:prstGeom>
          <a:solidFill>
            <a:srgbClr val="34D3FF"/>
          </a:solidFill>
          <a:ln w="12700">
            <a:solidFill>
              <a:srgbClr val="34D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政策情报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50" dirty="0">
                <a:solidFill>
                  <a:srgbClr val="AFC3DA"/>
                </a:solidFill>
              </a:rPr>
              <a:t>聚合政策源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提取变化点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匹配客户场景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11880" y="1298448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298448"/>
            <a:ext cx="54864" cy="1280160"/>
          </a:xfrm>
          <a:prstGeom prst="rect">
            <a:avLst/>
          </a:prstGeom>
          <a:solidFill>
            <a:srgbClr val="2EE59D"/>
          </a:solidFill>
          <a:ln w="12700">
            <a:solidFill>
              <a:srgbClr val="2EE5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企业知识问答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76472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50" dirty="0">
                <a:solidFill>
                  <a:srgbClr val="AFC3DA"/>
                </a:solidFill>
              </a:rPr>
              <a:t>基于知识库回答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保留来源依据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统一业务口径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0" y="1298448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298448"/>
            <a:ext cx="54864" cy="12801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1463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Agent 工作台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48272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50" dirty="0">
                <a:solidFill>
                  <a:srgbClr val="AFC3DA"/>
                </a:solidFill>
              </a:rPr>
              <a:t>任务拆解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多步骤推理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输出行动建议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55480" y="1298448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1298448"/>
            <a:ext cx="54864" cy="12801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14630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SOP 训练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20072" y="1901952"/>
            <a:ext cx="16916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50" dirty="0">
                <a:solidFill>
                  <a:srgbClr val="AFC3DA"/>
                </a:solidFill>
              </a:rPr>
              <a:t>沉淀流程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训练新人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评估掌握度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17320" y="3246120"/>
            <a:ext cx="9372600" cy="914400"/>
          </a:xfrm>
          <a:prstGeom prst="chevron">
            <a:avLst/>
          </a:prstGeom>
          <a:solidFill>
            <a:srgbClr val="173B62"/>
          </a:solidFill>
          <a:ln w="12700">
            <a:solidFill>
              <a:srgbClr val="34D3FF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3529584"/>
            <a:ext cx="8823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7FF"/>
                </a:solidFill>
              </a:rPr>
              <a:t>政策输入 → 知识理解 → 业务执行 → SOP 训练 → 经验反哺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88720" y="4663440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FC3DA"/>
                </a:solidFill>
              </a:rPr>
              <a:t>恒识把“信息”转成“组织能力”，让每一次政策变化都能形成可复用的业务资产。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BAA"/>
                </a:solidFill>
              </a:rPr>
              <a:t>Evercog Competition Pitch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201400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FF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 w="12700">
            <a:solidFill>
              <a:srgbClr val="0814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8686800" y="-1645920"/>
            <a:ext cx="4754880" cy="4754880"/>
          </a:xfrm>
          <a:prstGeom prst="arc">
            <a:avLst/>
          </a:prstGeom>
          <a:noFill/>
          <a:ln w="25400">
            <a:solidFill>
              <a:srgbClr val="34D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-1097280" y="5029200"/>
            <a:ext cx="3840480" cy="3840480"/>
          </a:xfrm>
          <a:prstGeom prst="arc">
            <a:avLst/>
          </a:prstGeom>
          <a:noFill/>
          <a:ln w="25400">
            <a:solidFill>
              <a:srgbClr val="2EE59D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产品结构：四个页面支撑完整 Demo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3DA"/>
                </a:solidFill>
              </a:rPr>
              <a:t>建议现场按“发现政策—问答解释—Agent 执行—SOP 训练”演示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173B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444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34440"/>
            <a:ext cx="54864" cy="1005840"/>
          </a:xfrm>
          <a:prstGeom prst="rect">
            <a:avLst/>
          </a:prstGeom>
          <a:solidFill>
            <a:srgbClr val="34D3FF"/>
          </a:solidFill>
          <a:ln w="12700">
            <a:solidFill>
              <a:srgbClr val="34D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399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/policy-intelligence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837944"/>
            <a:ext cx="4937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老板视角：看到政策机会、风险提示与业务影响。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123444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234440"/>
            <a:ext cx="54864" cy="1005840"/>
          </a:xfrm>
          <a:prstGeom prst="rect">
            <a:avLst/>
          </a:prstGeom>
          <a:solidFill>
            <a:srgbClr val="2EE59D"/>
          </a:solidFill>
          <a:ln w="12700">
            <a:solidFill>
              <a:srgbClr val="2EE5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399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/employee-qa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28232" y="1837944"/>
            <a:ext cx="4937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员工视角：基于企业知识库提问，快速获得有依据的答案。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43200"/>
            <a:ext cx="54864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907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/agent-workspace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3346704"/>
            <a:ext cx="4937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顾问视角：把客户问题拆解为任务链，输出建议和材料。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63640" y="274320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743200"/>
            <a:ext cx="54864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2907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/sop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28232" y="3346704"/>
            <a:ext cx="4937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导师视角：把高频经验沉淀为训练任务，持续提升新人能力。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7FF"/>
                </a:solidFill>
              </a:rPr>
              <a:t>推荐演示问题：某地发布新的小微企业补贴政策，我们如何判断客户是否适用，并让新人学会标准答复？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BAA"/>
                </a:solidFill>
              </a:rPr>
              <a:t>Evercog Competition Pitch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11201400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FF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 w="12700">
            <a:solidFill>
              <a:srgbClr val="0814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8686800" y="-1645920"/>
            <a:ext cx="4754880" cy="4754880"/>
          </a:xfrm>
          <a:prstGeom prst="arc">
            <a:avLst/>
          </a:prstGeom>
          <a:noFill/>
          <a:ln w="25400">
            <a:solidFill>
              <a:srgbClr val="34D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-1097280" y="5029200"/>
            <a:ext cx="3840480" cy="3840480"/>
          </a:xfrm>
          <a:prstGeom prst="arc">
            <a:avLst/>
          </a:prstGeom>
          <a:noFill/>
          <a:ln w="25400">
            <a:solidFill>
              <a:srgbClr val="2EE59D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Demo 剧本：3 分钟讲清价值闭环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3DA"/>
                </a:solidFill>
              </a:rPr>
              <a:t>主持人话术可以直接照读，也可按现场节奏压缩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173B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07008"/>
            <a:ext cx="5230368" cy="969264"/>
          </a:xfrm>
          <a:prstGeom prst="roundRect">
            <a:avLst>
              <a:gd name="adj" fmla="val 7547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07008"/>
            <a:ext cx="54864" cy="969264"/>
          </a:xfrm>
          <a:prstGeom prst="rect">
            <a:avLst/>
          </a:prstGeom>
          <a:solidFill>
            <a:srgbClr val="34D3FF"/>
          </a:solidFill>
          <a:ln w="12700">
            <a:solidFill>
              <a:srgbClr val="34D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37160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0:00-0:25  开场痛点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1810512"/>
            <a:ext cx="49103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政策变化来了，客户马上会问；团队却还在人工找文件、问资深同事。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207008"/>
            <a:ext cx="5230368" cy="969264"/>
          </a:xfrm>
          <a:prstGeom prst="roundRect">
            <a:avLst>
              <a:gd name="adj" fmla="val 7547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207008"/>
            <a:ext cx="54864" cy="969264"/>
          </a:xfrm>
          <a:prstGeom prst="rect">
            <a:avLst/>
          </a:prstGeom>
          <a:solidFill>
            <a:srgbClr val="2EE59D"/>
          </a:solidFill>
          <a:ln w="12700">
            <a:solidFill>
              <a:srgbClr val="2EE5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37160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0:25-1:05  政策情报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1810512"/>
            <a:ext cx="49103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进入政策情报页，展示政策摘要、影响对象、风险/机会标签。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2624328"/>
            <a:ext cx="5230368" cy="969264"/>
          </a:xfrm>
          <a:prstGeom prst="roundRect">
            <a:avLst>
              <a:gd name="adj" fmla="val 7547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624328"/>
            <a:ext cx="54864" cy="9692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8892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1:05-1:45  员工问答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" y="3227832"/>
            <a:ext cx="49103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切到员工问答页，询问客户是否适用，强调答案有来源、口径统一。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624328"/>
            <a:ext cx="5230368" cy="969264"/>
          </a:xfrm>
          <a:prstGeom prst="roundRect">
            <a:avLst>
              <a:gd name="adj" fmla="val 7547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624328"/>
            <a:ext cx="54864" cy="9692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278892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1:45-2:25  Agent 工作台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3227832"/>
            <a:ext cx="49103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把客户问题转成待办：核验条件、生成材料清单、输出沟通话术。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4041648"/>
            <a:ext cx="5230368" cy="969264"/>
          </a:xfrm>
          <a:prstGeom prst="roundRect">
            <a:avLst>
              <a:gd name="adj" fmla="val 7547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041648"/>
            <a:ext cx="54864" cy="969264"/>
          </a:xfrm>
          <a:prstGeom prst="rect">
            <a:avLst/>
          </a:prstGeom>
          <a:solidFill>
            <a:srgbClr val="34D3FF"/>
          </a:solidFill>
          <a:ln w="12700">
            <a:solidFill>
              <a:srgbClr val="34D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206240"/>
            <a:ext cx="4910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2:25-3:00  SOP 训练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" y="4645152"/>
            <a:ext cx="491032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进入 SOP 页，把本次案例沉淀为新人训练，形成经验闭环。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BAA"/>
                </a:solidFill>
              </a:rPr>
              <a:t>Evercog Competition Pitch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201400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FF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 w="12700">
            <a:solidFill>
              <a:srgbClr val="0814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8686800" y="-1645920"/>
            <a:ext cx="4754880" cy="4754880"/>
          </a:xfrm>
          <a:prstGeom prst="arc">
            <a:avLst/>
          </a:prstGeom>
          <a:noFill/>
          <a:ln w="25400">
            <a:solidFill>
              <a:srgbClr val="34D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-1097280" y="5029200"/>
            <a:ext cx="3840480" cy="3840480"/>
          </a:xfrm>
          <a:prstGeom prst="arc">
            <a:avLst/>
          </a:prstGeom>
          <a:noFill/>
          <a:ln w="25400">
            <a:solidFill>
              <a:srgbClr val="2EE59D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差异化：不是“能聊天”，而是“能沉淀”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3DA"/>
                </a:solidFill>
              </a:rPr>
              <a:t>比赛评审更关心可落地、可持续和可复制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173B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258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54864" cy="3291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490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传统 Chatbot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929384"/>
            <a:ext cx="3108960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50" dirty="0">
                <a:solidFill>
                  <a:srgbClr val="AFC3DA"/>
                </a:solidFill>
              </a:rPr>
              <a:t>回答依赖提示词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缺少企业语境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难以追踪依据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无法沉淀训练资产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3258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325880"/>
            <a:ext cx="54864" cy="3291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490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通用知识库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3712" y="1929384"/>
            <a:ext cx="3108960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50" dirty="0">
                <a:solidFill>
                  <a:srgbClr val="AFC3DA"/>
                </a:solidFill>
              </a:rPr>
              <a:t>能检索文档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但弱业务流程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缺少政策更新机制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难以闭环到员工能力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325880"/>
            <a:ext cx="54864" cy="3291840"/>
          </a:xfrm>
          <a:prstGeom prst="rect">
            <a:avLst/>
          </a:prstGeom>
          <a:solidFill>
            <a:srgbClr val="2EE59D"/>
          </a:solidFill>
          <a:ln w="12700">
            <a:solidFill>
              <a:srgbClr val="2EE5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490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恒识 Evercog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1929384"/>
            <a:ext cx="3108960" cy="2542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50" dirty="0">
                <a:solidFill>
                  <a:srgbClr val="AFC3DA"/>
                </a:solidFill>
              </a:rPr>
              <a:t>政策情报 + 企业问答 + Agent 执行 + SOP 训练</a:t>
            </a:r>
            <a:endParaRPr lang="en-US" sz="950" dirty="0"/>
          </a:p>
          <a:p>
            <a:r>
              <a:rPr lang="en-US" sz="950" dirty="0">
                <a:solidFill>
                  <a:srgbClr val="AFC3DA"/>
                </a:solidFill>
              </a:rPr>
              <a:t>让知识持续流动、复用和评估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BAA"/>
                </a:solidFill>
              </a:rPr>
              <a:t>Evercog Competition Pitch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201400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FF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 w="12700">
            <a:solidFill>
              <a:srgbClr val="0814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8686800" y="-1645920"/>
            <a:ext cx="4754880" cy="4754880"/>
          </a:xfrm>
          <a:prstGeom prst="arc">
            <a:avLst/>
          </a:prstGeom>
          <a:noFill/>
          <a:ln w="25400">
            <a:solidFill>
              <a:srgbClr val="34D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-1097280" y="5029200"/>
            <a:ext cx="3840480" cy="3840480"/>
          </a:xfrm>
          <a:prstGeom prst="arc">
            <a:avLst/>
          </a:prstGeom>
          <a:noFill/>
          <a:ln w="25400">
            <a:solidFill>
              <a:srgbClr val="2EE59D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商业价值：从效率工具到组织能力基础设施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3DA"/>
                </a:solidFill>
              </a:rPr>
              <a:t>优先服务政策敏感、知识密集、人员流动较高的企服机构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173B6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444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34440"/>
            <a:ext cx="54864" cy="1508760"/>
          </a:xfrm>
          <a:prstGeom prst="rect">
            <a:avLst/>
          </a:prstGeom>
          <a:solidFill>
            <a:srgbClr val="34D3FF"/>
          </a:solidFill>
          <a:ln w="12700">
            <a:solidFill>
              <a:srgbClr val="34D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目标客户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837944"/>
            <a:ext cx="31089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财税服务、法务咨询、人力资源服务、产业园区招商与企业服务团队。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23444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234440"/>
            <a:ext cx="54864" cy="1508760"/>
          </a:xfrm>
          <a:prstGeom prst="rect">
            <a:avLst/>
          </a:prstGeom>
          <a:solidFill>
            <a:srgbClr val="2EE59D"/>
          </a:solidFill>
          <a:ln w="12700">
            <a:solidFill>
              <a:srgbClr val="2EE5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付费理由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53712" y="1837944"/>
            <a:ext cx="31089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降低政策漏判风险、缩短新人培养周期、提升客户咨询响应速度。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123444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234440"/>
            <a:ext cx="54864" cy="1508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扩展路径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02752" y="1837944"/>
            <a:ext cx="31089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从单团队知识库切入，逐步扩展到政策监控、客户画像、流程自动化。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3749040"/>
            <a:ext cx="98755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F1F7FF"/>
                </a:solidFill>
              </a:rPr>
              <a:t>MVP 阶段：验证核心场景与演示闭环</a:t>
            </a:r>
            <a:endParaRPr lang="en-US" sz="1200" dirty="0"/>
          </a:p>
          <a:p>
            <a:r>
              <a:rPr lang="en-US" sz="1200" dirty="0">
                <a:solidFill>
                  <a:srgbClr val="F1F7FF"/>
                </a:solidFill>
              </a:rPr>
              <a:t>试点阶段：接入真实政策源和企业知识文档</a:t>
            </a:r>
            <a:endParaRPr lang="en-US" sz="1200" dirty="0"/>
          </a:p>
          <a:p>
            <a:r>
              <a:rPr lang="en-US" sz="1200" dirty="0">
                <a:solidFill>
                  <a:srgbClr val="F1F7FF"/>
                </a:solidFill>
              </a:rPr>
              <a:t>商业化阶段：按席位 + 知识库容量 + 政策源订阅收费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BAA"/>
                </a:solidFill>
              </a:rPr>
              <a:t>Evercog Competition Pitch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1201400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FF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26"/>
          </a:solidFill>
          <a:ln w="12700">
            <a:solidFill>
              <a:srgbClr val="0814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8686800" y="-1645920"/>
            <a:ext cx="4754880" cy="4754880"/>
          </a:xfrm>
          <a:prstGeom prst="arc">
            <a:avLst/>
          </a:prstGeom>
          <a:noFill/>
          <a:ln w="25400">
            <a:solidFill>
              <a:srgbClr val="34D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-1097280" y="5029200"/>
            <a:ext cx="3840480" cy="3840480"/>
          </a:xfrm>
          <a:prstGeom prst="arc">
            <a:avLst/>
          </a:prstGeom>
          <a:noFill/>
          <a:ln w="25400">
            <a:solidFill>
              <a:srgbClr val="2EE59D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结尾：让每一次经验都成为企业资产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3DA"/>
                </a:solidFill>
              </a:rPr>
              <a:t>路演收束页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173B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17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F7FF"/>
                </a:solidFill>
              </a:rPr>
              <a:t>恒识 Evercog 让中小微企服公司拥有自己的 AI 知识操作系统。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226771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FF"/>
                </a:solidFill>
              </a:rPr>
              <a:t>政策不再只是信息，经验不再只属于个人，新人不再只能靠问人。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1560" y="34290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429000"/>
            <a:ext cx="54864" cy="1143000"/>
          </a:xfrm>
          <a:prstGeom prst="rect">
            <a:avLst/>
          </a:prstGeom>
          <a:solidFill>
            <a:srgbClr val="34D3FF"/>
          </a:solidFill>
          <a:ln w="12700">
            <a:solidFill>
              <a:srgbClr val="34D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593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外部变化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16152" y="4032504"/>
            <a:ext cx="2743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自动捕捉政策与机会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6280" y="34290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3429000"/>
            <a:ext cx="54864" cy="1143000"/>
          </a:xfrm>
          <a:prstGeom prst="rect">
            <a:avLst/>
          </a:prstGeom>
          <a:solidFill>
            <a:srgbClr val="2EE59D"/>
          </a:solidFill>
          <a:ln w="12700">
            <a:solidFill>
              <a:srgbClr val="2EE5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3593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内部执行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90872" y="4032504"/>
            <a:ext cx="2743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统一知识和行动口径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01000" y="3429000"/>
            <a:ext cx="3063240" cy="1143000"/>
          </a:xfrm>
          <a:prstGeom prst="roundRect">
            <a:avLst>
              <a:gd name="adj" fmla="val 6400"/>
            </a:avLst>
          </a:prstGeom>
          <a:solidFill>
            <a:srgbClr val="102A49"/>
          </a:solidFill>
          <a:ln w="12700">
            <a:solidFill>
              <a:srgbClr val="173B62">
                <a:alpha val="8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3429000"/>
            <a:ext cx="54864" cy="1143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65592" y="3593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7FF"/>
                </a:solidFill>
              </a:rPr>
              <a:t>能力复制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65592" y="4032504"/>
            <a:ext cx="274320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FC3DA"/>
                </a:solidFill>
              </a:rPr>
              <a:t>把经验训练成团队能力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5806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7FF"/>
                </a:solidFill>
              </a:rPr>
              <a:t>谢谢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F8BAA"/>
                </a:solidFill>
              </a:rPr>
              <a:t>Evercog Competition Pitch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201400" y="64556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FF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Evercog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恒识 Evercog 比赛路演稿</dc:title>
  <dc:subject>恒识 Evercog 比赛路演材料</dc:subject>
  <dc:creator>Office Raccoon</dc:creator>
  <cp:lastModifiedBy>Office Raccoon</cp:lastModifiedBy>
  <cp:revision>1</cp:revision>
  <dcterms:created xsi:type="dcterms:W3CDTF">2026-06-13T16:52:59Z</dcterms:created>
  <dcterms:modified xsi:type="dcterms:W3CDTF">2026-06-13T16:52:59Z</dcterms:modified>
</cp:coreProperties>
</file>